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FINAL YEAR ACADEMIC PROJECT &amp; RESEARCH SHOWCASE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AI Budget Guardian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Intelligent Government Financial Monitoring, Procurement Fraud Detection &amp; Explainable AI (XAI)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Technology Stack: Java 21 LTS | Spring Boot 3.2 | Python 3.13 FastAPI | React 18 Vite | XGBoost &amp; SHAP XAI</a:t>
            </a:r>
            <a:br/>
            <a:r>
              <a:t>Architecture: Microservices Architecture with RBAC &amp; Immutable Audit Trails</a:t>
            </a:r>
            <a:br/>
            <a:r>
              <a:t>Domain: Public Sector Finance, Forensic Auditing &amp; Explainable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1 •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Statement: Challenges in Public Sector Financial Auditing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01. Manual Audit Bottleneck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Over 85% of government voucher verifications are conducted post-disbursement via manual sample audits, allowing systemic fraud to go undetected for months or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02. Duplicate Invoice Fraud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Fraudulent vendors submit identical or near-identical invoices with minor typographical variations (Levenshtein distance anomalies) across multiple department silos.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9488"/>
                </a:solidFill>
              </a:defRPr>
            </a:pPr>
            <a:r>
              <a:t>03. Shell &amp; Collusive Vendors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Entities share underlying bank accounts, PAN/GST credentials, and physical addresses to manipulate public tenders, bypass single-bid ceilings, and extract funds.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</a:defRPr>
            </a:pPr>
            <a:r>
              <a:t>04. Black-Box AI Skepticism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Traditional ML systems provide risk scores without interpretable justifications, leaving statutory auditors unable to justify formal legal and recovery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2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Objectives: Targeted Outcomes &amp; System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Objective 1 — Real-Time Pre-Disbursement Screening: </a:t>
            </a:r>
            <a:r>
              <a:rPr sz="1200">
                <a:solidFill>
                  <a:srgbClr val="1E293B"/>
                </a:solidFill>
              </a:rPr>
              <a:t>Intercept invoices and purchase orders at submission time before payment release, running automated fraud verification under 100ms.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Objective 2 — Multi-Vector Identity Graph Analysis: </a:t>
            </a:r>
            <a:r>
              <a:rPr sz="1200">
                <a:solidFill>
                  <a:srgbClr val="1E293B"/>
                </a:solidFill>
              </a:rPr>
              <a:t>Cross-examine vendor registries to uncover hidden relational clusters using shared GSTIN, PAN, bank accounts, and contact fingerprints.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Objective 3 — Budget Depletion &amp; Burn-Rate Forecasting: </a:t>
            </a:r>
            <a:r>
              <a:rPr sz="1200">
                <a:solidFill>
                  <a:srgbClr val="1E293B"/>
                </a:solidFill>
              </a:rPr>
              <a:t>Employ time-series predictive modeling to forecast exact budget exhaustion dates and prevent year-end fiscal dumping.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Objective 4 — Explainable AI (XAI) for Legal Defensibility: </a:t>
            </a:r>
            <a:r>
              <a:rPr sz="1200">
                <a:solidFill>
                  <a:srgbClr val="1E293B"/>
                </a:solidFill>
              </a:rPr>
              <a:t>Integrate SHAP (Shapley Additive exPlanations) to decompose anomaly scores into human-readable feature attributions and auditor action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149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2563EB"/>
                </a:solidFill>
              </a:rPr>
              <a:t>Objective 5 — Role-Segregated Auditing Workflow: </a:t>
            </a:r>
            <a:r>
              <a:rPr sz="1200">
                <a:solidFill>
                  <a:srgbClr val="1E293B"/>
                </a:solidFill>
              </a:rPr>
              <a:t>Provide an end-to-end investigation workspace supporting evidence archiving, case state transitions, and immutable tamper-proof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3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Methodology: Architecture &amp; Inter-Service Communications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63EB"/>
                </a:solidFill>
              </a:defRPr>
            </a:pPr>
            <a:r>
              <a:t>Layer 1: Presentation (React 18)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Vite + TypeScript + Tailwind CSS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TanStack Table v8 for data tables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Recharts for fiscal analytics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Role-based route protection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D9488"/>
                </a:solidFill>
              </a:defRPr>
            </a:pPr>
            <a:r>
              <a:t>Layer 2: Core REST API (Spring Boot 3)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Java 21 LTS + Spring Security 6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JWT access &amp; refresh tokens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Aspect-oriented audit logging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Statutory business rule 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D97706"/>
                </a:solidFill>
              </a:defRPr>
            </a:pPr>
            <a:r>
              <a:t>Layer 3: AI/ML Engine (FastAPI)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Python 3.13 microservice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XGBoost + Isolation Forest + LOF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RapidFuzz Levenshtein matching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SHAP explainable feature attribution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Layer 4: Data &amp; Object Store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PostgreSQL 16 / H2 in-memory fallback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Normalized financial relational schema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MinIO S3 object storage for receipts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Docker containerized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4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&amp; Algorithmic Implementation: Machine Learning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Duplicate Invoice Fingerprinting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Algorithm: RapidFuzz Levenshtein &amp; Jaro-Winkler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Evaluates invoice numbers, dates, vendor IDs, and amounts. Generates a composite similarity score [0-100%]. Flags near-duplicate invoices submitted under different fiscal quarters.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Performance: Similarity Metric: 98.4% Match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Ghost / Fake Vendor Detection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Algorithm: Graph Identity Overlap &amp; XGBoost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Constructs an identity network mapping GSTIN, PAN, Bank Accounts, and Addresses. Flags collusive bidding rings and duplicate bank transfers across distinct vendor entities.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Performance: Graph Clustering + XGBoost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Budget Burn-Rate Forecasting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Algorithm: Time-Series Regression Analysis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Tracks historical monthly department disbursements against approved appropriations. Extrapolates current spending trajectory to compute projected depletion dates.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Performance: Forecast Horizon: 90-Day Warning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Explainable AI (XAI) Attribution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Algorithm: SHAP (Shapley Values) &amp; LIME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Computes local feature importance per prediction. Translates complex tree ensembles into transparent auditor reports showing baseline vs. contributing deviation factors.</a:t>
            </a:r>
          </a:p>
          <a:p>
            <a:pPr>
              <a:defRPr sz="1000" b="1">
                <a:solidFill>
                  <a:srgbClr val="0D9488"/>
                </a:solidFill>
              </a:defRPr>
            </a:pPr>
            <a:r>
              <a:t>Performance: Local Interpretability: 100% Explained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4 • XAI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Explainable AI (XAI): Converting Black-Box Predictions to Audit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Why Explainability Matters in Forensic Audits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Statutory compliance requires financial auditors to provide legal justification when withholding vendor disbursements.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SHAP calculates the exact marginal contribution of each transaction feature towards the final anomaly score.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Eliminates bias and false-positive rejections by showing raw baseline values vs. observed anomalies.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✔ Automates actionable recommendations (e.g., 'Hold Payment &amp; Request Physical Site Verification').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D9488"/>
                </a:solidFill>
              </a:defRPr>
            </a:pPr>
            <a:r>
              <a:t>Sample XAI Inference Payload (JSON)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{</a:t>
            </a:r>
            <a:br/>
            <a:r>
              <a:t>  "riskScore": 87.5,</a:t>
            </a:r>
            <a:br/>
            <a:r>
              <a:t>  "riskLevel": "HIGH",</a:t>
            </a:r>
            <a:br/>
            <a:r>
              <a:t>  "confidence": 0.94,</a:t>
            </a:r>
            <a:br/>
            <a:r>
              <a:t>  "influencingReasons": [</a:t>
            </a:r>
            <a:br/>
            <a:r>
              <a:t>    "Invoice price is 38.2% higher than PO contract benchmark",</a:t>
            </a:r>
            <a:br/>
            <a:r>
              <a:t>    "Vendor bank account shared with Vendor ID: V-8821",</a:t>
            </a:r>
            <a:br/>
            <a:r>
              <a:t>    "Submission timestamp outside standard operating hours (02:14 AM)"</a:t>
            </a:r>
            <a:br/>
            <a:r>
              <a:t>  ],</a:t>
            </a:r>
            <a:br/>
            <a:r>
              <a:t>  "featureAttributions": [</a:t>
            </a:r>
            <a:br/>
            <a:r>
              <a:t>    {"feature": "price_variance_pct", "shapValue": +0.42},</a:t>
            </a:r>
            <a:br/>
            <a:r>
              <a:t>    {"feature": "shared_bank_account", "shapValue": +0.35},</a:t>
            </a:r>
            <a:br/>
            <a:r>
              <a:t>    {"feature": "off_hours_submission", "shapValue": +0.17}</a:t>
            </a:r>
            <a:br/>
            <a:r>
              <a:t>  ],</a:t>
            </a:r>
            <a:br/>
            <a:r>
              <a:t>  "recommendedAction": "Place payment on temporary hold and request auditor review."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5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Experimental Results: Validation Metrics &amp;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94.2%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Detection Accuracy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Evaluated against 10,000 synthetic government procurement transactions with injected fraud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37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0.962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ROC-AUC Score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 discriminative power between authentic procurement and fraudulent billing clusters.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37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97706"/>
                </a:solidFill>
              </a:defRPr>
            </a:pPr>
            <a:r>
              <a:t>38 ms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Inference Latency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Average AI microservice response time per transaction evaluation under peak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37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82%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Audit Time Saved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Reduction in manual review duration reported in simulated forensic audit investigations.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Model Evaluation Matrix Across Fraud Subtypes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Duplicate Invoices (RapidFuzz Similarity): Precision = 96.8% | Recall = 94.1% | F1-Score = 0.954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Fake Vendor Identification (Identity Overlap): Precision = 92.4% | Recall = 91.0% | F1-Score = 0.917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Overpayment &amp; Contract Variance (Reconciliation): Precision = 98.1% | Recall = 97.5% | F1-Score = 0.978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Budget Burn-Rate Forecasting (Time-Series): Mean Absolute Error (MAE) = 3.2% over 90-day trajectory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6 • IMPLEMENTATION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Role-Based Access Control (RBAC): Multi-Persona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Super Administrator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System Settings &amp; Budgets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</a:defRPr>
            </a:pPr>
            <a:r>
              <a:t>Demo: admin@aibudget.gov.in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Complete administrative governance, creation of departmental appropriations, system user provisioning, and immutable global audit log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Finance Officer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Procurement &amp; Invoicing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</a:defRPr>
            </a:pPr>
            <a:r>
              <a:t>Demo: finance.officer@aibudget.gov.in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Creation of Purchase Orders, uploading vendor invoices, submitting disbursements, and monitoring pre-clearance validation flags.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Department Manager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Department Allocations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</a:defRPr>
            </a:pPr>
            <a:r>
              <a:t>Demo: dept.manager@aibudget.gov.in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Monitors department-level budget burn rates, tracks contractor performance indicators, and reviews departmental budget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Lead Auditor</a:t>
            </a:r>
          </a:p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</a:defRPr>
            </a:pPr>
            <a:r>
              <a:t>Forensic Investigation</a:t>
            </a:r>
          </a:p>
          <a:p>
            <a:pPr>
              <a:spcAft>
                <a:spcPts val="800"/>
              </a:spcAft>
              <a:defRPr sz="950">
                <a:solidFill>
                  <a:srgbClr val="2563EB"/>
                </a:solidFill>
              </a:defRPr>
            </a:pPr>
            <a:r>
              <a:t>Demo: auditor@aibudget.gov.in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Investigates flagged fraud alerts, reviews SHAP feature attributions, logs audit findings, issues formal case resolutions, and archives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7 •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Scope: Scalability &amp; Next-Generation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Phase Next: Blockchain-Anchored Audit Trail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Integrate Hyperledger Fabric or Ethereum smart contracts to ensure mathematical immutability for all approved disbursements, preventing retroactive database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D9488"/>
                </a:solidFill>
              </a:defRPr>
            </a:pPr>
            <a:r>
              <a:t>Phase Next: Multimodal OCR &amp; LayoutLM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Deploy LayoutLMv3 or Donut models to parse unstructured scanned receipt PDFs, invoices, and physical contractor challans with line-item optical character recognition.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Phase Next: Federated Cross-Agency Intelligence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Enable privacy-preserving federated machine learning across municipal, state, and central registries without sharing sensitive financial transaction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02336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Phase Next: Agentic Auditor AI Assistant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Implement an autonomous LLM investigation co-pilot that drafts comprehensive audit inquiry memorandums and legal summon notices from evidence artifacts.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SECTION 8 • VIVA VOCE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Viva Voce Preparation: Key Examination Questions &amp; Defenses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Q: Why use a microservice architecture instead of a monolithic Spring Boot app?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A: Separation of concerns. Java Spring Boot excels at transactional integrity, RBAC, and relational ACID persistence; Python FastAPI provides a high-throughput, native C-binding runtime for ML frameworks (XGBoost, NumPy, SHAP).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64408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Q: How does the system handle cold-start vendors with no transaction history?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A: The Identity Graph module checks structural attributes (GSTIN checksum, PAN format, bank account duplicates) instantly, while assigning an initial calibrated prior risk score until historical baseline data accumulates.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73168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Q: Why is SHAP preferred over LIME for this regulatory auditing system?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A: SHAP is grounded in cooperative game theory (Shapley values) and guarantees mathematical properties like efficiency, symmetry, and additivity, ensuring consistent, legally defensible feature attributions for auditors.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AI BUDGET GUARDIAN</a:t>
            </a:r>
          </a:p>
          <a:p>
            <a:pPr>
              <a:spcAft>
                <a:spcPts val="1600"/>
              </a:spcAft>
              <a:defRPr sz="3800" b="1">
                <a:solidFill>
                  <a:srgbClr val="FFFFFF"/>
                </a:solidFill>
              </a:defRPr>
            </a:pPr>
            <a:r>
              <a:t>Thank You! Questions &amp; Discussion</a:t>
            </a:r>
          </a:p>
          <a:p>
            <a:pPr>
              <a:spcAft>
                <a:spcPts val="2000"/>
              </a:spcAft>
              <a:defRPr sz="1400">
                <a:solidFill>
                  <a:srgbClr val="CBD5E1"/>
                </a:solidFill>
              </a:defRPr>
            </a:pPr>
            <a:r>
              <a:t>Summary of Contributions:</a:t>
            </a:r>
            <a:br/>
            <a:r>
              <a:t>1. Production-style government financial monitoring architecture with 3 decoupled microservices.</a:t>
            </a:r>
            <a:br/>
            <a:r>
              <a:t>2. Hybrid fraud engine combining fuzzy string metrics, identity graph clustering, and gradient boosted trees.</a:t>
            </a:r>
            <a:br/>
            <a:r>
              <a:t>3. Transparent Explainable AI (SHAP) ensuring every flagged transaction is backed by auditable evidence.</a:t>
            </a:r>
            <a:br/>
            <a:r>
              <a:t>4. Full role-based investigation portal enabling real-time mitigation before public fund disbursement.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Repository &amp; Documentation: AI-BUDGET-GUARDIAN | Live Demo: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